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1" r:id="rId2"/>
    <p:sldId id="262" r:id="rId3"/>
    <p:sldId id="263" r:id="rId4"/>
    <p:sldId id="266" r:id="rId5"/>
    <p:sldId id="264" r:id="rId6"/>
    <p:sldId id="270" r:id="rId7"/>
    <p:sldId id="267" r:id="rId8"/>
    <p:sldId id="265" r:id="rId9"/>
    <p:sldId id="268" r:id="rId10"/>
    <p:sldId id="269" r:id="rId11"/>
  </p:sldIdLst>
  <p:sldSz cx="9144000" cy="5143500" type="screen16x9"/>
  <p:notesSz cx="5143500" cy="9144000"/>
  <p:embeddedFontLst>
    <p:embeddedFont>
      <p:font typeface="Bahnschrift Condensed" panose="020B0502040204020203" pitchFamily="34" charset="0"/>
      <p:regular r:id="rId14"/>
      <p:bold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1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341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C612E3C-0BB5-45A3-81D1-98A50DA315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Bahnschrift Condensed" panose="020B0502040204020203" pitchFamily="34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5EC9140-D197-4FF1-81C4-268BD44B61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7EB9E5-5B8A-4392-B2A2-4E5EB3AE9828}" type="datetimeFigureOut">
              <a:rPr lang="ru-RU" smtClean="0">
                <a:latin typeface="Bahnschrift Condensed" panose="020B0502040204020203" pitchFamily="34" charset="0"/>
              </a:rPr>
              <a:t>12.05.2026</a:t>
            </a:fld>
            <a:endParaRPr lang="ru-RU" dirty="0">
              <a:latin typeface="Bahnschrift Condensed" panose="020B0502040204020203" pitchFamily="34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6014EC4-57FA-44C7-A27F-D10335153F0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Bahnschrift Condensed" panose="020B0502040204020203" pitchFamily="34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856507-2809-49AC-9537-4528FF9A65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DD86F-59D8-4D54-A433-0403A914171C}" type="slidenum">
              <a:rPr lang="ru-RU" smtClean="0">
                <a:latin typeface="Bahnschrift Condensed" panose="020B0502040204020203" pitchFamily="34" charset="0"/>
              </a:rPr>
              <a:t>‹#›</a:t>
            </a:fld>
            <a:endParaRPr lang="ru-RU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4179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906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Bahnschrift Condensed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Bahnschrift Condensed" panose="020B0502040204020203" pitchFamily="34" charset="0"/>
              </a:rPr>
              <a:t>1</a:t>
            </a:fld>
            <a:endParaRPr lang="en-US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Bahnschrift Condensed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Bahnschrift Condensed" panose="020B0502040204020203" pitchFamily="34" charset="0"/>
              </a:rPr>
              <a:t>2</a:t>
            </a:fld>
            <a:endParaRPr lang="en-US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Bahnschrift Condensed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Bahnschrift Condensed" panose="020B0502040204020203" pitchFamily="34" charset="0"/>
              </a:rPr>
              <a:t>3</a:t>
            </a:fld>
            <a:endParaRPr lang="en-US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Bahnschrift Condensed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Bahnschrift Condensed" panose="020B0502040204020203" pitchFamily="34" charset="0"/>
              </a:rPr>
              <a:t>4</a:t>
            </a:fld>
            <a:endParaRPr lang="en-US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129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Bahnschrift Condensed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Bahnschrift Condensed" panose="020B0502040204020203" pitchFamily="34" charset="0"/>
              </a:rPr>
              <a:t>5</a:t>
            </a:fld>
            <a:endParaRPr lang="en-US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Bahnschrift Condensed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Bahnschrift Condensed" panose="020B0502040204020203" pitchFamily="34" charset="0"/>
              </a:rPr>
              <a:t>7</a:t>
            </a:fld>
            <a:endParaRPr lang="en-US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758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Bahnschrift Condensed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Bahnschrift Condensed" panose="020B0502040204020203" pitchFamily="34" charset="0"/>
              </a:rPr>
              <a:t>8</a:t>
            </a:fld>
            <a:endParaRPr lang="en-US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Bahnschrift Condensed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Bahnschrift Condensed" panose="020B0502040204020203" pitchFamily="34" charset="0"/>
              </a:rPr>
              <a:t>9</a:t>
            </a:fld>
            <a:endParaRPr lang="en-US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707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447333" y="618371"/>
            <a:ext cx="8312692" cy="3964419"/>
          </a:xfrm>
          <a:prstGeom prst="roundRect">
            <a:avLst>
              <a:gd name="adj" fmla="val 9863"/>
            </a:avLst>
          </a:prstGeom>
          <a:solidFill>
            <a:srgbClr val="2589C9"/>
          </a:solidFill>
          <a:ln/>
        </p:spPr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772AB5-5708-4A0F-A4E0-51692860E5D4}"/>
              </a:ext>
            </a:extLst>
          </p:cNvPr>
          <p:cNvSpPr txBox="1"/>
          <p:nvPr/>
        </p:nvSpPr>
        <p:spPr>
          <a:xfrm>
            <a:off x="1391335" y="887963"/>
            <a:ext cx="658170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9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КУРСОВАЯ РАБОТА</a:t>
            </a:r>
            <a:endParaRPr lang="ru-RU" sz="9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base"/>
            <a:r>
              <a:rPr lang="ru-RU" sz="14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Разработка онлайн информационной системы для вокзалов</a:t>
            </a:r>
            <a:r>
              <a:rPr lang="en-US" sz="1400" b="1" dirty="0">
                <a:effectLst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 </a:t>
            </a:r>
            <a:endParaRPr lang="ru-RU" sz="11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9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Профиль: Информационные технология </a:t>
            </a:r>
            <a:endParaRPr lang="ru-RU" sz="9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Предмет: Веб системы и технологии</a:t>
            </a:r>
            <a:endParaRPr lang="ru-RU" sz="9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Курс: </a:t>
            </a:r>
            <a:r>
              <a:rPr lang="az-Latn-AZ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ru-RU" sz="9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az-Latn-AZ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Группа: 680.23</a:t>
            </a:r>
            <a:endParaRPr lang="ru-RU" sz="9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az-Latn-AZ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Студент: </a:t>
            </a:r>
            <a:r>
              <a:rPr lang="ru-RU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Бабаев Сулейман</a:t>
            </a:r>
            <a:endParaRPr lang="ru-RU" sz="9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az-Latn-AZ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Преподаватели: Халилов Матлаб </a:t>
            </a:r>
            <a:r>
              <a:rPr lang="ru-RU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az-Latn-AZ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Алиев Джамиль</a:t>
            </a:r>
            <a:endParaRPr lang="ru-RU" sz="9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6">
            <a:extLst>
              <a:ext uri="{FF2B5EF4-FFF2-40B4-BE49-F238E27FC236}">
                <a16:creationId xmlns:a16="http://schemas.microsoft.com/office/drawing/2014/main" id="{8D4FC642-467D-4A43-9DB8-6752D0E03995}"/>
              </a:ext>
            </a:extLst>
          </p:cNvPr>
          <p:cNvSpPr/>
          <p:nvPr/>
        </p:nvSpPr>
        <p:spPr>
          <a:xfrm>
            <a:off x="1" y="0"/>
            <a:ext cx="9172524" cy="5143500"/>
          </a:xfrm>
          <a:prstGeom prst="roundRect">
            <a:avLst>
              <a:gd name="adj" fmla="val 9863"/>
            </a:avLst>
          </a:prstGeom>
          <a:solidFill>
            <a:srgbClr val="2589C9"/>
          </a:solidFill>
          <a:ln/>
        </p:spPr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779CC56-24D3-4BE9-BF9E-0BB27CCDB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800"/>
            <a:ext cx="9144000" cy="4379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392A27A-EAF1-48B8-A685-9224844500C1}"/>
              </a:ext>
            </a:extLst>
          </p:cNvPr>
          <p:cNvSpPr txBox="1"/>
          <p:nvPr/>
        </p:nvSpPr>
        <p:spPr>
          <a:xfrm>
            <a:off x="224213" y="613122"/>
            <a:ext cx="82372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Верхняя часть — это тёмная навигационная панель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слева расположен логотип/название сайта, а справа — меню с разделами: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Табло рейсов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Пассажирам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/>
              <a:t>Это начальная страница сайта, на которой представлена краткая информация об истории железнодорожных вокзалов. Пользователь может ознакомиться с основными фактами, узнать об особенностях вокзалов, их развитии и значении в транспортной системе. Информация представлена в тезисной и удобной для восприятия форме, что позволяет быстро получить общее представление о вокзалах.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центре страницы находится основной блок с заголовком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«История железных дорог Азербайджана»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Ниже идёт краткое описание и вертикальная временная линия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которая показывает ключевые этапы развития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6">
            <a:extLst>
              <a:ext uri="{FF2B5EF4-FFF2-40B4-BE49-F238E27FC236}">
                <a16:creationId xmlns:a16="http://schemas.microsoft.com/office/drawing/2014/main" id="{8D4FC642-467D-4A43-9DB8-6752D0E03995}"/>
              </a:ext>
            </a:extLst>
          </p:cNvPr>
          <p:cNvSpPr/>
          <p:nvPr/>
        </p:nvSpPr>
        <p:spPr>
          <a:xfrm>
            <a:off x="1" y="0"/>
            <a:ext cx="9172524" cy="5143500"/>
          </a:xfrm>
          <a:prstGeom prst="roundRect">
            <a:avLst>
              <a:gd name="adj" fmla="val 9863"/>
            </a:avLst>
          </a:prstGeom>
          <a:solidFill>
            <a:srgbClr val="2589C9"/>
          </a:solidFill>
          <a:ln/>
        </p:spPr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84ADC2-C25A-4DA8-8A30-62F191ADB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9468"/>
            <a:ext cx="9144000" cy="446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81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DB275F90-1E20-41F2-B9E2-CB83DB64160B}"/>
              </a:ext>
            </a:extLst>
          </p:cNvPr>
          <p:cNvSpPr txBox="1"/>
          <p:nvPr/>
        </p:nvSpPr>
        <p:spPr>
          <a:xfrm>
            <a:off x="411480" y="746611"/>
            <a:ext cx="83210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данной странице в разделе «Главная» расположен селектор поиска билетов, который позволяет пользователю быстро найти необходимый рейс. В форме поиска предусмотрены три основных поля: пункт отправления, пункт назначения и дата поездки. Это обеспечивает удобный и быстрый поиск подходящих маршрутов.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Далее размещена форма, состоящая из трёх полей: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Откуда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поле для ввода станции отправления (пример: Баку)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Куда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поле для ввода станции назначения (пример: Гянджа)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 поездки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поле выбора даты (с иконкой календаря)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 формой находится кнопка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«Найти билеты»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которая запускает поиск.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успешном поиске направит на страницу с планом Рейсов , в ином случае произойдет вывод красной надписи рейс не найден.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FD5033-75B0-4CC1-AC97-B5F8C878C09A}"/>
              </a:ext>
            </a:extLst>
          </p:cNvPr>
          <p:cNvSpPr txBox="1"/>
          <p:nvPr/>
        </p:nvSpPr>
        <p:spPr>
          <a:xfrm>
            <a:off x="421019" y="578661"/>
            <a:ext cx="65751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случае если рейс по выбранному направлению существует, пользователю будет отображено сообщение «</a:t>
            </a:r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Билет найден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», выделенное зелёным цветом. После этого произойдёт автоматический переход в раздел «Таблица рейсов», где будет представлена информация о доступных рейсах.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же билеты по указанному маршруту отсутствуют, на экране появится сообщение «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Рейс отсутствует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», выделенное красным цветом.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Также предусмотрено дополнительное условие: по воскресеньям рейсы не выполняются. Если пользователь выберет в качестве даты поездки воскресенье, система отобразит сообщение красным цветом о том, что </a:t>
            </a:r>
            <a:r>
              <a:rPr lang="ru-RU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 воскресеньям рейсов нет.</a:t>
            </a:r>
          </a:p>
        </p:txBody>
      </p:sp>
    </p:spTree>
    <p:extLst>
      <p:ext uri="{BB962C8B-B14F-4D97-AF65-F5344CB8AC3E}">
        <p14:creationId xmlns:p14="http://schemas.microsoft.com/office/powerpoint/2010/main" val="1141034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6">
            <a:extLst>
              <a:ext uri="{FF2B5EF4-FFF2-40B4-BE49-F238E27FC236}">
                <a16:creationId xmlns:a16="http://schemas.microsoft.com/office/drawing/2014/main" id="{8D4FC642-467D-4A43-9DB8-6752D0E03995}"/>
              </a:ext>
            </a:extLst>
          </p:cNvPr>
          <p:cNvSpPr/>
          <p:nvPr/>
        </p:nvSpPr>
        <p:spPr>
          <a:xfrm>
            <a:off x="1" y="0"/>
            <a:ext cx="9172524" cy="5143500"/>
          </a:xfrm>
          <a:prstGeom prst="roundRect">
            <a:avLst>
              <a:gd name="adj" fmla="val 9863"/>
            </a:avLst>
          </a:prstGeom>
          <a:solidFill>
            <a:srgbClr val="2589C9"/>
          </a:solidFill>
          <a:ln/>
        </p:spPr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0EDF73-4A86-472E-8AEB-0546E6F9A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4121"/>
            <a:ext cx="9144000" cy="445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578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0890F1A5-0277-4936-9AE2-C94200EE2A42}"/>
              </a:ext>
            </a:extLst>
          </p:cNvPr>
          <p:cNvSpPr txBox="1"/>
          <p:nvPr/>
        </p:nvSpPr>
        <p:spPr>
          <a:xfrm>
            <a:off x="243840" y="475893"/>
            <a:ext cx="89992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По центру размещён заголовок </a:t>
            </a:r>
            <a:r>
              <a:rPr lang="ru-RU" b="1" dirty="0"/>
              <a:t>«Онлайн-табло»</a:t>
            </a:r>
            <a:r>
              <a:rPr lang="ru-RU" dirty="0"/>
              <a:t>, под которым находится таблица с расписанием поездов. Таблица содержит следующие столбцы: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Рейс</a:t>
            </a:r>
            <a:r>
              <a:rPr lang="ru-RU" dirty="0"/>
              <a:t> — номер поезда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Маршрут</a:t>
            </a:r>
            <a:r>
              <a:rPr lang="ru-RU" dirty="0"/>
              <a:t> — направление (например, Баку — Гянджа)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Отправление</a:t>
            </a:r>
            <a:r>
              <a:rPr lang="ru-RU" dirty="0"/>
              <a:t> — время отправления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Платформа</a:t>
            </a:r>
            <a:r>
              <a:rPr lang="ru-RU" dirty="0"/>
              <a:t> — номер платформы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Статус</a:t>
            </a:r>
            <a:r>
              <a:rPr lang="ru-RU" dirty="0"/>
              <a:t> — текущее состояние рейса </a:t>
            </a:r>
          </a:p>
          <a:p>
            <a:r>
              <a:rPr lang="ru-RU" dirty="0"/>
              <a:t>В таблице приведены несколько примеров рейсов: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часть поездов имеют статус </a:t>
            </a:r>
            <a:r>
              <a:rPr lang="ru-RU" b="1" dirty="0"/>
              <a:t>«По расписанию»</a:t>
            </a:r>
            <a:r>
              <a:rPr lang="ru-RU" dirty="0"/>
              <a:t> (отмечены зелёным цветом),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один рейс выделен статусом </a:t>
            </a:r>
            <a:r>
              <a:rPr lang="ru-RU" b="1" dirty="0"/>
              <a:t>«Ожидается в 11:20»</a:t>
            </a:r>
            <a:r>
              <a:rPr lang="ru-RU" dirty="0"/>
              <a:t> (оранжевым цветом), что указывает на задержку или изменение времени.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6">
            <a:extLst>
              <a:ext uri="{FF2B5EF4-FFF2-40B4-BE49-F238E27FC236}">
                <a16:creationId xmlns:a16="http://schemas.microsoft.com/office/drawing/2014/main" id="{8D4FC642-467D-4A43-9DB8-6752D0E03995}"/>
              </a:ext>
            </a:extLst>
          </p:cNvPr>
          <p:cNvSpPr/>
          <p:nvPr/>
        </p:nvSpPr>
        <p:spPr>
          <a:xfrm>
            <a:off x="1" y="0"/>
            <a:ext cx="9172524" cy="5143500"/>
          </a:xfrm>
          <a:prstGeom prst="roundRect">
            <a:avLst>
              <a:gd name="adj" fmla="val 9863"/>
            </a:avLst>
          </a:prstGeom>
          <a:solidFill>
            <a:srgbClr val="2589C9"/>
          </a:solidFill>
          <a:ln/>
        </p:spPr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E4A688-FE0B-4EBF-B0FE-8BBA8FA29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1889"/>
            <a:ext cx="9144000" cy="443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217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6561DB-C5B2-4145-93F9-9150D13A1870}"/>
              </a:ext>
            </a:extLst>
          </p:cNvPr>
          <p:cNvSpPr txBox="1"/>
          <p:nvPr/>
        </p:nvSpPr>
        <p:spPr>
          <a:xfrm>
            <a:off x="179070" y="312420"/>
            <a:ext cx="87858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данной странице представлены правила и важные заметки, с которыми должны ознакомиться пассажиры перед поездкой. Здесь указаны основные требования, рекомендации и тонкости, которые необходимо учитывать при пользовании железнодорожным транспортом. Информация помогает пассажирам соблюдать установленные правила, избегать возможных проблем и обеспечивать комфортную и безопасную </a:t>
            </a:r>
            <a:r>
              <a:rPr lang="ru-RU"/>
              <a:t>поездку.</a:t>
            </a:r>
          </a:p>
          <a:p>
            <a:r>
              <a:rPr lang="ru-RU" b="1" dirty="0"/>
              <a:t>Провоз багажа</a:t>
            </a:r>
            <a:r>
              <a:rPr lang="ru-RU" dirty="0"/>
              <a:t> — бесплатно можно взять с собой ручную кладь до 35 кг, но не крупнее 180 см в сумме трёх сторон. Если вещи габаритные — нужно оформлять отдельно. Опасные вещества перевозить запрещено.</a:t>
            </a:r>
          </a:p>
          <a:p>
            <a:r>
              <a:rPr lang="ru-RU" b="1" dirty="0"/>
              <a:t>Возврат билетов</a:t>
            </a:r>
            <a:r>
              <a:rPr lang="ru-RU" dirty="0"/>
              <a:t> — вернуть билет можно не позднее чем за 2 часа до отправления, как онлайн, так и в кассе. При возврате удерживается сервисный сбор. После того как поезд отправился — деньги не вернут.</a:t>
            </a:r>
          </a:p>
          <a:p>
            <a:r>
              <a:rPr lang="ru-RU" b="1" dirty="0"/>
              <a:t>Льготный проезд</a:t>
            </a:r>
            <a:r>
              <a:rPr lang="ru-RU" dirty="0"/>
              <a:t> — студенты и пенсионеры могут ехать со скидкой, но нужно иметь при себе подтверждающий документ. Льготы работают только на внутренних рейсах.</a:t>
            </a:r>
          </a:p>
          <a:p>
            <a:r>
              <a:rPr lang="ru-RU" b="1" dirty="0"/>
              <a:t>Поведение на вокзале</a:t>
            </a:r>
            <a:r>
              <a:rPr lang="ru-RU" dirty="0"/>
              <a:t> — нужно соблюдать порядок, не курить в неположенных местах, слушаться персонала и не оставлять вещи без присмотра.</a:t>
            </a:r>
          </a:p>
        </p:txBody>
      </p:sp>
    </p:spTree>
    <p:extLst>
      <p:ext uri="{BB962C8B-B14F-4D97-AF65-F5344CB8AC3E}">
        <p14:creationId xmlns:p14="http://schemas.microsoft.com/office/powerpoint/2010/main" val="647245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645</Words>
  <Application>Microsoft Office PowerPoint</Application>
  <PresentationFormat>Экран (16:9)</PresentationFormat>
  <Paragraphs>47</Paragraphs>
  <Slides>10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Calibri</vt:lpstr>
      <vt:lpstr>Bahnschrift Condensed</vt:lpstr>
      <vt:lpstr>Arial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Babayev Suleyman</cp:lastModifiedBy>
  <cp:revision>6</cp:revision>
  <dcterms:created xsi:type="dcterms:W3CDTF">2026-05-07T17:10:32Z</dcterms:created>
  <dcterms:modified xsi:type="dcterms:W3CDTF">2026-05-12T08:29:43Z</dcterms:modified>
</cp:coreProperties>
</file>